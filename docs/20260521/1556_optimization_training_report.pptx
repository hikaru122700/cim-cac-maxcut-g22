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Yu Gothic"/>
              </a:rPr>
              <a:t>数理最適化研修 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0E2F2"/>
                </a:solidFill>
                <a:latin typeface="Yu Gothic"/>
              </a:rPr>
              <a:t>── LP / IP / MIP を学んで MaxCut の解き方を整理する ──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0E2F2"/>
                </a:solidFill>
                <a:latin typeface="Yu Gothic"/>
              </a:rPr>
              <a:t>原典: BrainPad『数理最適化研修』 全 105 ページ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Yu Gothic"/>
              </a:rPr>
              <a:t>発表者: 五十嵐研  CIM-CAC-MaxCut チーム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5A5A6"/>
                </a:solidFill>
                <a:latin typeface="Yu Gothic"/>
              </a:rPr>
              <a:t>2026-05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本日のアジェンダ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E2F2"/>
                </a:solidFill>
                <a:latin typeface="Yu Gothic"/>
              </a:rPr>
              <a:t>20 枚で 105 ページを縮約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4A4A4A"/>
                </a:solidFill>
                <a:latin typeface="Yu Gothic"/>
              </a:rPr>
              <a:t>•  Part I  数理最適化とは — 第 1〜4 枚</a:t>
            </a:r>
          </a:p>
          <a:p>
            <a:pPr algn="l" lvl="1"/>
            <a:r>
              <a:rPr sz="1300">
                <a:solidFill>
                  <a:srgbClr val="4A4A4A"/>
                </a:solidFill>
                <a:latin typeface="Yu Gothic"/>
              </a:rPr>
              <a:t>‣  最適化問題の 3 要素と分類</a:t>
            </a:r>
          </a:p>
          <a:p>
            <a:pPr algn="l" lvl="1"/>
            <a:r>
              <a:rPr sz="1300">
                <a:solidFill>
                  <a:srgbClr val="4A4A4A"/>
                </a:solidFill>
                <a:latin typeface="Yu Gothic"/>
              </a:rPr>
              <a:t>‣  解くまでの流れ・ソルバーの位置づけ</a:t>
            </a:r>
          </a:p>
          <a:p>
            <a:pPr algn="l"/>
            <a:r>
              <a:rPr sz="1400">
                <a:solidFill>
                  <a:srgbClr val="4A4A4A"/>
                </a:solidFill>
                <a:latin typeface="Yu Gothic"/>
              </a:rPr>
              <a:t>•  Part II  LP / IP / MIP — 第 5〜13 枚</a:t>
            </a:r>
          </a:p>
          <a:p>
            <a:pPr algn="l" lvl="1"/>
            <a:r>
              <a:rPr sz="1300">
                <a:solidFill>
                  <a:srgbClr val="4A4A4A"/>
                </a:solidFill>
                <a:latin typeface="Yu Gothic"/>
              </a:rPr>
              <a:t>‣  線形計画 (LP): 飲料生産問題</a:t>
            </a:r>
          </a:p>
          <a:p>
            <a:pPr algn="l" lvl="1"/>
            <a:r>
              <a:rPr sz="1300">
                <a:solidFill>
                  <a:srgbClr val="4A4A4A"/>
                </a:solidFill>
                <a:latin typeface="Yu Gothic"/>
              </a:rPr>
              <a:t>‣  整数計画 (IP, 0-1): ナップサック</a:t>
            </a:r>
          </a:p>
          <a:p>
            <a:pPr algn="l" lvl="1"/>
            <a:r>
              <a:rPr sz="1300">
                <a:solidFill>
                  <a:srgbClr val="4A4A4A"/>
                </a:solidFill>
                <a:latin typeface="Yu Gothic"/>
              </a:rPr>
              <a:t>‣  混合整数計画 (MIP): 施設配置・チーム分け</a:t>
            </a:r>
          </a:p>
          <a:p>
            <a:pPr algn="l"/>
            <a:r>
              <a:rPr sz="1400">
                <a:solidFill>
                  <a:srgbClr val="4A4A4A"/>
                </a:solidFill>
                <a:latin typeface="Yu Gothic"/>
              </a:rPr>
              <a:t>•  Part III  研究室との接続 — 第 14〜18 枚</a:t>
            </a:r>
          </a:p>
          <a:p>
            <a:pPr algn="l" lvl="1"/>
            <a:r>
              <a:rPr sz="1300">
                <a:solidFill>
                  <a:srgbClr val="4A4A4A"/>
                </a:solidFill>
                <a:latin typeface="Yu Gothic"/>
              </a:rPr>
              <a:t>‣  MaxCut を IP として書く</a:t>
            </a:r>
          </a:p>
          <a:p>
            <a:pPr algn="l" lvl="1"/>
            <a:r>
              <a:rPr sz="1300">
                <a:solidFill>
                  <a:srgbClr val="4A4A4A"/>
                </a:solidFill>
                <a:latin typeface="Yu Gothic"/>
              </a:rPr>
              <a:t>‣  MILP ソルバー vs CIM/CAC の住み分け</a:t>
            </a:r>
          </a:p>
          <a:p>
            <a:pPr algn="l" lvl="1"/>
            <a:r>
              <a:rPr sz="1300">
                <a:solidFill>
                  <a:srgbClr val="4A4A4A"/>
                </a:solidFill>
                <a:latin typeface="Yu Gothic"/>
              </a:rPr>
              <a:t>‣  Optuna も「最適化問題」だった</a:t>
            </a:r>
          </a:p>
          <a:p>
            <a:pPr algn="l"/>
            <a:r>
              <a:rPr sz="1400">
                <a:solidFill>
                  <a:srgbClr val="4A4A4A"/>
                </a:solidFill>
                <a:latin typeface="Yu Gothic"/>
              </a:rPr>
              <a:t>•  まとめ・参考文献 — 第 19〜20 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303520" cy="5029200"/>
          </a:xfrm>
          <a:prstGeom prst="roundRect">
            <a:avLst/>
          </a:prstGeom>
          <a:solidFill>
            <a:srgbClr val="FDF6E3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17043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0392B"/>
                </a:solidFill>
                <a:latin typeface="Yu Gothic"/>
              </a:rPr>
              <a:t>本資料のゴール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93775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BrainPad の研修内容(LP/IP/MIP)を、研究室で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自分たちが解いている MaxCut / CIM とどう繋がるか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という観点に置き換えて整理する。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テクニックそのものではなく、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「自分たちの問題を数理最適化の言葉で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記述・分類する力」を持ち帰る。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→ MaxCut は 0-1 IP の典型問題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→ CIM はフルスクラッチ系アルゴリズム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→ Optuna は連続ブラックボックス最適化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5A5A6"/>
                </a:solidFill>
                <a:latin typeface="Yu Gothic"/>
              </a:rPr>
              <a:t>BrainPad 数理最適化研修 報告 (五十嵐研)  /  出典: 数理最適化研修 (BrainPad Inc., 2025)  /  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数理最適化とは何か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E2F2"/>
                </a:solidFill>
                <a:latin typeface="Yu Gothic"/>
              </a:rPr>
              <a:t>①数理最適化イントロダクション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</a:rPr>
              <a:t>制約条件のもとで目的関数を最大化/最小化する解を求める「問題」と、それを通じた意思決定の「技術」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66160" cy="1828800"/>
          </a:xfrm>
          <a:prstGeom prst="roundRect">
            <a:avLst/>
          </a:prstGeom>
          <a:solidFill>
            <a:srgbClr val="ECF2F9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0195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Yu Gothic"/>
              </a:rPr>
              <a:t>決定変数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最適化で決めたい値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x ∈ ℝⁿ (連続) や {0,1}ⁿ (離散)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566160" cy="1828800"/>
          </a:xfrm>
          <a:prstGeom prst="roundRect">
            <a:avLst/>
          </a:prstGeom>
          <a:solidFill>
            <a:srgbClr val="FDF6E3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90195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0392B"/>
                </a:solidFill>
                <a:latin typeface="Yu Gothic"/>
              </a:rPr>
              <a:t>目的関数 f(x)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最大化 / 最小化したい指標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売上、損失、コスト、…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566160" cy="1828800"/>
          </a:xfrm>
          <a:prstGeom prst="roundRect">
            <a:avLst/>
          </a:prstGeom>
          <a:solidFill>
            <a:srgbClr val="E8F8F5"/>
          </a:solidFill>
          <a:ln w="15240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90195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A085"/>
                </a:solidFill>
                <a:latin typeface="Yu Gothic"/>
              </a:rPr>
              <a:t>制約条件 g(x) ≤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2860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実行可能領域を絞る式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容量、需要、論理関係、…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Yu Gothic"/>
              </a:rPr>
              <a:t>機械学習(予測) ↔ 数理最適化(意思決定)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262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A4A4A"/>
                </a:solidFill>
                <a:latin typeface="Yu Gothic"/>
              </a:rPr>
              <a:t>•  ML: 「次にどうなる?」 を入力データから当てるモデル → 説明変数 ⇒ 目的変数</a:t>
            </a:r>
          </a:p>
          <a:p>
            <a:pPr algn="l"/>
            <a:r>
              <a:rPr sz="1300">
                <a:solidFill>
                  <a:srgbClr val="4A4A4A"/>
                </a:solidFill>
                <a:latin typeface="Yu Gothic"/>
              </a:rPr>
              <a:t>•  MO: 「どうしたら良い?」 を目的関数の最大化で答える → 数理モデル ⇒ 行動</a:t>
            </a:r>
          </a:p>
          <a:p>
            <a:pPr algn="l"/>
            <a:r>
              <a:rPr sz="1300">
                <a:solidFill>
                  <a:srgbClr val="4A4A4A"/>
                </a:solidFill>
                <a:latin typeface="Yu Gothic"/>
              </a:rPr>
              <a:t>•  本研究室の CIM 研究も「ML がやらないこと」を扱う立場 — 意思決定 (=どう切るか) に近い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5A5A6"/>
                </a:solidFill>
                <a:latin typeface="Yu Gothic"/>
              </a:rPr>
              <a:t>BrainPad 数理最適化研修 報告 (五十嵐研)  /  出典: 数理最適化研修 (BrainPad Inc., 2025)  /  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最適化問題の分類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E2F2"/>
                </a:solidFill>
                <a:latin typeface="Yu Gothic"/>
              </a:rPr>
              <a:t>用語と地図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Yu Gothic"/>
              </a:rPr>
              <a:t>決定変数と目的・制約が「線形か / 連続か」で大別される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86400" cy="2286000"/>
          </a:xfrm>
          <a:prstGeom prst="roundRect">
            <a:avLst/>
          </a:prstGeom>
          <a:solidFill>
            <a:srgbClr val="ECF2F9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Yu Gothic"/>
              </a:rPr>
              <a:t>連続  ×  線形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LP
Linear Programming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実数決定変数 + 線形 f, g
例: 生産量配分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486400" cy="2286000"/>
          </a:xfrm>
          <a:prstGeom prst="roundRect">
            <a:avLst/>
          </a:prstGeom>
          <a:solidFill>
            <a:srgbClr val="FDF6E3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2763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Yu Gothic"/>
              </a:rPr>
              <a:t>連続  ×  非線形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NLP / QP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実数決定変数 + 非線形
例: ML の損失関数最小化
本研究室の CIM パラ調整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77639"/>
            <a:ext cx="5486400" cy="2286000"/>
          </a:xfrm>
          <a:prstGeom prst="roundRect">
            <a:avLst/>
          </a:prstGeom>
          <a:solidFill>
            <a:srgbClr val="FAE5D3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050791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Yu Gothic"/>
              </a:rPr>
              <a:t>離散  ×  線形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IP / MIP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整数 (0/1) 決定変数 + 線形
例: ナップサック、施設配置
★MaxCut もここ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77639"/>
            <a:ext cx="5486400" cy="2286000"/>
          </a:xfrm>
          <a:prstGeom prst="roundRect">
            <a:avLst/>
          </a:prstGeom>
          <a:solidFill>
            <a:srgbClr val="E8F8F5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050791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Yu Gothic"/>
              </a:rPr>
              <a:t>離散  ×  非線形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43484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INLP / QUBO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整数決定変数 + 非線形
例: QUBO, Ising モデル
★CIM が解いているのは実質これ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Yu Gothic"/>
              </a:rPr>
              <a:t>★ = 自分たちの研究テーマがここに位置することを示す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5A5A6"/>
                </a:solidFill>
                <a:latin typeface="Yu Gothic"/>
              </a:rPr>
              <a:t>BrainPad 数理最適化研修 報告 (五十嵐研)  /  出典: 数理最適化研修 (BrainPad Inc., 2025)  /  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最適化案件の進め方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E2F2"/>
                </a:solidFill>
                <a:latin typeface="Yu Gothic"/>
              </a:rPr>
              <a:t>定式化 → 求解 → 可視化 → 改良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2743200" cy="2377440"/>
          </a:xfrm>
          <a:prstGeom prst="roundRect">
            <a:avLst/>
          </a:prstGeom>
          <a:solidFill>
            <a:srgbClr val="ECF2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Yu Gothic"/>
              </a:rPr>
              <a:t>現実問題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4A4A"/>
                </a:solidFill>
                <a:latin typeface="Yu Gothic"/>
              </a:rPr>
              <a:t>言語的に書かれた要件
生産計画・配送・配置 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54679" y="2743200"/>
            <a:ext cx="182880" cy="548640"/>
          </a:xfrm>
          <a:prstGeom prst="right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37560" y="1828800"/>
            <a:ext cx="2743200" cy="2377440"/>
          </a:xfrm>
          <a:prstGeom prst="roundRect">
            <a:avLst/>
          </a:prstGeom>
          <a:solidFill>
            <a:srgbClr val="ECF2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Yu Gothic"/>
              </a:rPr>
              <a:t>最適化問題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46888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4A4A"/>
                </a:solidFill>
                <a:latin typeface="Yu Gothic"/>
              </a:rPr>
              <a:t>目的関数 + 決定変数
+ 制約式 に分解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126479" y="2743200"/>
            <a:ext cx="182880" cy="548640"/>
          </a:xfrm>
          <a:prstGeom prst="right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828800"/>
            <a:ext cx="2743200" cy="2377440"/>
          </a:xfrm>
          <a:prstGeom prst="roundRect">
            <a:avLst/>
          </a:prstGeom>
          <a:solidFill>
            <a:srgbClr val="ECF2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Yu Gothic"/>
              </a:rPr>
              <a:t>計算結果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6888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4A4A"/>
                </a:solidFill>
                <a:latin typeface="Yu Gothic"/>
              </a:rPr>
              <a:t>ソルバーや独自アルゴ
が返す数値解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098280" y="2743200"/>
            <a:ext cx="182880" cy="548640"/>
          </a:xfrm>
          <a:prstGeom prst="right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81160" y="1828800"/>
            <a:ext cx="2743200" cy="2377440"/>
          </a:xfrm>
          <a:prstGeom prst="roundRect">
            <a:avLst/>
          </a:prstGeom>
          <a:solidFill>
            <a:srgbClr val="ECF2F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Yu Gothic"/>
              </a:rPr>
              <a:t>問題解決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46888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4A4A"/>
                </a:solidFill>
                <a:latin typeface="Yu Gothic"/>
              </a:rPr>
              <a:t>可視化で違和感を検出
要件と摺り合わせ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434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0392B"/>
                </a:solidFill>
                <a:latin typeface="Yu Gothic"/>
              </a:rPr>
              <a:t>↑ 1 回でうまく行くことは稀。再定式化 / 再アルゴリズム選択を反復する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研究室文脈の翻訳:</a:t>
            </a:r>
          </a:p>
          <a:p>
            <a:pPr algn="l" lvl="1"/>
            <a:r>
              <a:rPr sz="1100">
                <a:solidFill>
                  <a:srgbClr val="4A4A4A"/>
                </a:solidFill>
                <a:latin typeface="Yu Gothic"/>
              </a:rPr>
              <a:t>‣  「現実問題」=最大カット数を取りたい / 振幅が綺麗に二極化したい</a:t>
            </a:r>
          </a:p>
          <a:p>
            <a:pPr algn="l" lvl="1"/>
            <a:r>
              <a:rPr sz="1100">
                <a:solidFill>
                  <a:srgbClr val="4A4A4A"/>
                </a:solidFill>
                <a:latin typeface="Yu Gothic"/>
              </a:rPr>
              <a:t>‣  「定式化」 =MaxCut → 0-1 IP / Ising → SDE</a:t>
            </a:r>
          </a:p>
          <a:p>
            <a:pPr algn="l" lvl="1"/>
            <a:r>
              <a:rPr sz="1100">
                <a:solidFill>
                  <a:srgbClr val="4A4A4A"/>
                </a:solidFill>
                <a:latin typeface="Yu Gothic"/>
              </a:rPr>
              <a:t>‣  「ソルバー」=Cbc / Gurobi / SCIP  vs  CIM / CAC / SA / SB</a:t>
            </a:r>
          </a:p>
          <a:p>
            <a:pPr algn="l" lvl="1"/>
            <a:r>
              <a:rPr sz="1100">
                <a:solidFill>
                  <a:srgbClr val="4A4A4A"/>
                </a:solidFill>
                <a:latin typeface="Yu Gothic"/>
              </a:rPr>
              <a:t>‣  「可視化・改良」=cut 分布ヒスト・振幅軌跡 → パラメータ再調整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5A5A6"/>
                </a:solidFill>
                <a:latin typeface="Yu Gothic"/>
              </a:rPr>
              <a:t>BrainPad 数理最適化研修 報告 (五十嵐研)  /  出典: 数理最適化研修 (BrainPad Inc., 2025)  /  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汎用ソルバー vs フルスクラッチ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E2F2"/>
                </a:solidFill>
                <a:latin typeface="Yu Gothic"/>
              </a:rPr>
              <a:t>性能と汎用性のトレードオフ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486400" cy="5120640"/>
          </a:xfrm>
          <a:prstGeom prst="roundRect">
            <a:avLst/>
          </a:prstGeom>
          <a:solidFill>
            <a:srgbClr val="ECF2F9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Yu Gothic"/>
              </a:rPr>
              <a:t>(1) 汎用ソルバー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予めアルゴリズムを実装したパッケージ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Gurobi (有償) / SCIP / Cbc / CP-SAT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○ 制約変更に強い・保守容易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○ 「裏で何をやっているか」を意識せず使える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× 問題固有の構造は使えない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× 大規模になると現実時間で解けない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案件ではこれが第一選択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(BrainPad 研修も PuLP + Cbc 想定)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486400" cy="5120640"/>
          </a:xfrm>
          <a:prstGeom prst="roundRect">
            <a:avLst/>
          </a:prstGeom>
          <a:solidFill>
            <a:srgbClr val="FDF6E3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17043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0392B"/>
                </a:solidFill>
                <a:latin typeface="Yu Gothic"/>
              </a:rPr>
              <a:t>(2) フルスクラッチ・問題固有アルゴリズム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自分でアルゴリズムを 1 から実装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ヒューリスティクス / メタヒューリスティクス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○ 問題固有の性質を最大活用 → 高速・大規模対応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× 保守性が低い・汎用性なし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× 設計・チューニング・検証コストが高い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★研究室の CIM / CAC / SB / SA はここに該当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汎用 MILP ソルバーが大規模 G-set を解けない領域で、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Ising 物理を使って高速に近似解を得る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5A5A6"/>
                </a:solidFill>
                <a:latin typeface="Yu Gothic"/>
              </a:rPr>
              <a:t>BrainPad 数理最適化研修 報告 (五十嵐研)  /  出典: 数理最適化研修 (BrainPad Inc., 2025)  /  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1C40F"/>
                </a:solidFill>
                <a:latin typeface="Yu Gothic"/>
              </a:rPr>
              <a:t>Part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LP / IP / MIP の定式化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線形計画問題 (LP)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E2F2"/>
                </a:solidFill>
                <a:latin typeface="Yu Gothic"/>
              </a:rPr>
              <a:t>② 線形計画 定式化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</a:rPr>
              <a:t>いくつかの一次不等式/等式を制約として、ある一次関数を最大化・最小化する問題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86400" cy="4389120"/>
          </a:xfrm>
          <a:prstGeom prst="roundRect">
            <a:avLst/>
          </a:prstGeom>
          <a:solidFill>
            <a:srgbClr val="ECF2F9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1051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Yu Gothic"/>
              </a:rPr>
              <a:t>基本性質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最大化と最小化は等価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max f(x)  ⇔  min -f(x)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不等式制約と等式制約も等価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ax ≤ b  ⇔  ax + s = b, s ≥ 0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実行可能領域は多面体になる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最適解は通常その「頂点」に位置 (単体法の根拠)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ソルバーは多項式時間で解ける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→ LP は事実上「解ける問題」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486400" cy="4389120"/>
          </a:xfrm>
          <a:prstGeom prst="roundRect">
            <a:avLst/>
          </a:prstGeom>
          <a:solidFill>
            <a:srgbClr val="E8F8F5"/>
          </a:solidFill>
          <a:ln w="15240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1051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A085"/>
                </a:solidFill>
                <a:latin typeface="Yu Gothic"/>
              </a:rPr>
              <a:t>一般形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minimize    cᵀ x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subject to  A x  ≤  b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          x  ≥  0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c ∈ ℝⁿ        目的関数の重み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A ∈ ℝᵐˣⁿ      制約行列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b ∈ ℝᵐ        制約の右辺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x ∈ ℝⁿ        決定変数 (実数!)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決定変数が実数なのが LP の本質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整数化されると一気に難しくなる ⇒ 次節 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5A5A6"/>
                </a:solidFill>
                <a:latin typeface="Yu Gothic"/>
              </a:rPr>
              <a:t>BrainPad 数理最適化研修 報告 (五十嵐研)  /  出典: 数理最適化研修 (BrainPad Inc., 2025)  /  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LP 例題: 飲料の生産量最適化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E2F2"/>
                </a:solidFill>
                <a:latin typeface="Yu Gothic"/>
              </a:rPr>
              <a:t>定式化の 3 ステップを体験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05840"/>
            <a:ext cx="5486400" cy="5120640"/>
          </a:xfrm>
          <a:prstGeom prst="roundRect">
            <a:avLst/>
          </a:prstGeom>
          <a:solidFill>
            <a:srgbClr val="ECF2F9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7899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Yu Gothic"/>
              </a:rPr>
              <a:t>問題設定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売値: フルーツジュース 3,000 円/kg, ティー 2,000 円/kg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材料: リンゴ・オレンジ(在庫 500 / 300)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1 kg 製造あたり必要量: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ジュース → リンゴ 2, オレンジ 4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ティー   → リンゴ 5, オレンジ 2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売上を最大化するには何 kg ずつ作る?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「現実問題」をどうやって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決定変数 / 目的関数 / 制約 に分解するか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がこの章で持ち帰るべきスキル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05840"/>
            <a:ext cx="5486400" cy="5120640"/>
          </a:xfrm>
          <a:prstGeom prst="roundRect">
            <a:avLst/>
          </a:prstGeom>
          <a:solidFill>
            <a:srgbClr val="FDF6E3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07899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0392B"/>
                </a:solidFill>
                <a:latin typeface="Yu Gothic"/>
              </a:rPr>
              <a:t>定式化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決定変数: x₁ = ジュース量, x₂ = ティー量 (kg, ≥ 0)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目的関数: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maximize   3000 x₁ + 2000 x₂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制約条件: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リンゴ:    2 x₁ + 5 x₂  ≤ 500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オレンジ:  4 x₁ + 2 x₂  ≤ 300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非負:      x₁, x₂ ≥ 0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解: x₁ = 31.25, x₂ = 87.5,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売上 = 268,750 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5A5A6"/>
                </a:solidFill>
                <a:latin typeface="Yu Gothic"/>
              </a:rPr>
              <a:t>BrainPad 数理最適化研修 報告 (五十嵐研)  /  出典: 数理最適化研修 (BrainPad Inc., 2025)  /  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PuLP + Cbc による実装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E2F2"/>
                </a:solidFill>
                <a:latin typeface="Yu Gothic"/>
              </a:rPr>
              <a:t>③ 線形計画 実装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Yu Gothic"/>
              </a:rPr>
              <a:t>モデラー (PuLP) で定式化を Python で書き、ソルバー (Cbc) が裏で解く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858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6949440" cy="46177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6766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8F8F2"/>
                </a:solidFill>
                <a:latin typeface="Consolas"/>
              </a:rPr>
              <a:t>import pulp</a:t>
            </a:r>
          </a:p>
          <a:p>
            <a:r>
              <a:rPr sz="1200">
                <a:solidFill>
                  <a:srgbClr val="F8F8F2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F8F8F2"/>
                </a:solidFill>
                <a:latin typeface="Consolas"/>
              </a:rPr>
              <a:t>model = pulp.LpProblem(name='飲料生産', sense=pulp.LpMaximize)</a:t>
            </a:r>
          </a:p>
          <a:p>
            <a:r>
              <a:rPr sz="1200">
                <a:solidFill>
                  <a:srgbClr val="F8F8F2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F8F8F2"/>
                </a:solidFill>
                <a:latin typeface="Consolas"/>
              </a:rPr>
              <a:t>x1 = pulp.LpVariable('x1', lowBound=0, cat='Continuous')</a:t>
            </a:r>
          </a:p>
          <a:p>
            <a:r>
              <a:rPr sz="1200">
                <a:solidFill>
                  <a:srgbClr val="F8F8F2"/>
                </a:solidFill>
                <a:latin typeface="Consolas"/>
              </a:rPr>
              <a:t>x2 = pulp.LpVariable('x2', lowBound=0, cat='Continuous')</a:t>
            </a:r>
          </a:p>
          <a:p>
            <a:r>
              <a:rPr sz="1200">
                <a:solidFill>
                  <a:srgbClr val="F8F8F2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F8F8F2"/>
                </a:solidFill>
                <a:latin typeface="Consolas"/>
              </a:rPr>
              <a:t>model += 3000 * x1 + 2000 * x2          # 目的関数</a:t>
            </a:r>
          </a:p>
          <a:p>
            <a:r>
              <a:rPr sz="1200">
                <a:solidFill>
                  <a:srgbClr val="F8F8F2"/>
                </a:solidFill>
                <a:latin typeface="Consolas"/>
              </a:rPr>
              <a:t>model += 2 * x1 + 5 * x2 &lt;= 500         # リンゴ制約</a:t>
            </a:r>
          </a:p>
          <a:p>
            <a:r>
              <a:rPr sz="1200">
                <a:solidFill>
                  <a:srgbClr val="F8F8F2"/>
                </a:solidFill>
                <a:latin typeface="Consolas"/>
              </a:rPr>
              <a:t>model += 4 * x1 + 2 * x2 &lt;= 300         # オレンジ制約</a:t>
            </a:r>
          </a:p>
          <a:p>
            <a:r>
              <a:rPr sz="1200">
                <a:solidFill>
                  <a:srgbClr val="F8F8F2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F8F8F2"/>
                </a:solidFill>
                <a:latin typeface="Consolas"/>
              </a:rPr>
              <a:t>model.solve()</a:t>
            </a:r>
          </a:p>
          <a:p>
            <a:r>
              <a:rPr sz="1200">
                <a:solidFill>
                  <a:srgbClr val="F8F8F2"/>
                </a:solidFill>
                <a:latin typeface="Consolas"/>
              </a:rPr>
              <a:t>print('Status:', pulp.LpStatus[model.status])</a:t>
            </a:r>
          </a:p>
          <a:p>
            <a:r>
              <a:rPr sz="1200">
                <a:solidFill>
                  <a:srgbClr val="F8F8F2"/>
                </a:solidFill>
                <a:latin typeface="Consolas"/>
              </a:rPr>
              <a:t>print('x1 =', x1.value(), 'x2 =', x2.value())</a:t>
            </a:r>
          </a:p>
          <a:p>
            <a:r>
              <a:rPr sz="1200">
                <a:solidFill>
                  <a:srgbClr val="F8F8F2"/>
                </a:solidFill>
                <a:latin typeface="Consolas"/>
              </a:rPr>
              <a:t># → Status: Optimal,  x1 = 31.25, x2 = 87.5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54480"/>
            <a:ext cx="4023360" cy="4572000"/>
          </a:xfrm>
          <a:prstGeom prst="roundRect">
            <a:avLst/>
          </a:prstGeom>
          <a:solidFill>
            <a:srgbClr val="ECF2F9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627632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Yu Gothic"/>
              </a:rPr>
              <a:t>モデラー作成 6 ステップ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011680"/>
            <a:ext cx="3657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1. 問題定義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  LpProblem(name, sense)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2. 決定変数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  LpVariable(name, bounds, cat)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3. 目的関数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  model += expr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4. 制約式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  model += expr &lt;= rhs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5. 求解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  model.solve()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6. 値取り出し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  x.value()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ML の fit→predict と相似形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5A5A6"/>
                </a:solidFill>
                <a:latin typeface="Yu Gothic"/>
              </a:rPr>
              <a:t>BrainPad 数理最適化研修 報告 (五十嵐研)  /  出典: 数理最適化研修 (BrainPad Inc., 2025)  /  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整数計画 (IP) と 0-1 整数計画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E2F2"/>
                </a:solidFill>
                <a:latin typeface="Yu Gothic"/>
              </a:rPr>
              <a:t>④ 整数計画問題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Yu Gothic"/>
              </a:rPr>
              <a:t>決定変数が整数値のみ。特に {0, 1} に限定されたものを 0-1 IP と呼ぶ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86400" cy="4572000"/>
          </a:xfrm>
          <a:prstGeom prst="roundRect">
            <a:avLst/>
          </a:prstGeom>
          <a:solidFill>
            <a:srgbClr val="FAE5D3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0392B"/>
                </a:solidFill>
                <a:latin typeface="Yu Gothic"/>
              </a:rPr>
              <a:t>種類と難しさ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0-1 IP: 選択する/しない (binary)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→ ナップサック、施設配置の「契約 or NOT」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線形 IP: 整数 + 線形目的・制約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→ ビンパッキングなど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非線形 IP: 二乗誤差や log を含む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→ PuLP + Cbc では解けない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★MaxCut / Ising は二次形の 0-1 IP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決定変数 xᵢ ∈ {0, 1} が「集合 A か B か」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目的 = Σ (xᵢ - xⱼ)² over edges (i, j)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486400" cy="4572000"/>
          </a:xfrm>
          <a:prstGeom prst="roundRect">
            <a:avLst/>
          </a:prstGeom>
          <a:solidFill>
            <a:srgbClr val="ECF2F9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2763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Yu Gothic"/>
              </a:rPr>
              <a:t>ナップサック問題の定式化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決定変数: xᵢ ∈ {0, 1}  商品 i を入れるか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目的:  maximize  Σᵢ vᵢ xᵢ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制約:  Σᵢ wᵢ xᵢ  ≤  C   (容量)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実装は LP とほぼ同じ: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pulp.LpVariable.dicts('x', I, cat='Binary')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ここで集合 (I) と総和記号 (Σ) で書く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→ 入力サイズに依らない汎用コード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MaxCut も「集合 + Σ + 0-1 変数」で全部書ける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5A5A6"/>
                </a:solidFill>
                <a:latin typeface="Yu Gothic"/>
              </a:rPr>
              <a:t>BrainPad 数理最適化研修 報告 (五十嵐研)  /  出典: 数理最適化研修 (BrainPad Inc., 2025)  /  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混合整数計画 (MIP) — 施設配置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E2F2"/>
                </a:solidFill>
                <a:latin typeface="Yu Gothic"/>
              </a:rPr>
              <a:t>⑤ MIP 定式化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Yu Gothic"/>
              </a:rPr>
              <a:t>実数決定変数と整数決定変数が同居 — 現実問題の多くがここに該当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86400" cy="4572000"/>
          </a:xfrm>
          <a:prstGeom prst="roundRect">
            <a:avLst/>
          </a:prstGeom>
          <a:solidFill>
            <a:srgbClr val="FAE5D3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0392B"/>
                </a:solidFill>
                <a:latin typeface="Yu Gothic"/>
              </a:rPr>
              <a:t>問題: 倉庫契約と輸送量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5 つの倉庫から 4 店舗へ製品を配送する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yᵢ ∈ {0, 1}      倉庫 i を契約するか        (整数!)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xᵢⱼ ∈ ℝ ≥ 0      i から j への輸送量          (実数!)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目的:  min Σᵢ fᵢ yᵢ  +  Σᵢⱼ cᵢⱼ xᵢⱼ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(固定費 + 輸送費)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制約: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Σⱼ xᵢⱼ  ≤  Mᵢ yᵢ        容量(big-M トリック)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Σᵢ xᵢⱼ  =  dⱼ            店舗 j の需要充足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→ 整数 + 実数の両方を扱う = MIP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486400" cy="4572000"/>
          </a:xfrm>
          <a:prstGeom prst="roundRect">
            <a:avLst/>
          </a:prstGeom>
          <a:solidFill>
            <a:srgbClr val="ECF2F9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2763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Yu Gothic"/>
              </a:rPr>
              <a:t>big-M トリックの読み方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Σⱼ xᵢⱼ  ≤  Mᵢ yᵢ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yᵢ = 0 のとき右辺 = 0 → 倉庫 i は 1 単位も出せない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yᵢ = 1 のとき右辺 = Mᵢ → 倉庫 i の容量分だけ出せる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= 「整数変数で連続変数のオン/オフを切る」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★Ising / MaxCut でも同じ構造が随所に出る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σᵢ = ±1 で結合項 Jᵢⱼ σᵢ σⱼ をオン/オフ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「離散変数で連続物理量の挙動を切替える」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MIP の感覚を持っておくと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自分の問題を MILP ソルバーに投げる選択肢が生まれる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5A5A6"/>
                </a:solidFill>
                <a:latin typeface="Yu Gothic"/>
              </a:rPr>
              <a:t>BrainPad 数理最適化研修 報告 (五十嵐研)  /  出典: 数理最適化研修 (BrainPad Inc., 2025)  /  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ハード制約 → ソフト制約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E2F2"/>
                </a:solidFill>
                <a:latin typeface="Yu Gothic"/>
              </a:rPr>
              <a:t>実行可能性が壊れたときの逃がし方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Yu Gothic"/>
              </a:rPr>
              <a:t>等式 Σ = AvgPoints のように厳密に守らせると実行不能になりがち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86400" cy="4572000"/>
          </a:xfrm>
          <a:prstGeom prst="roundRect">
            <a:avLst/>
          </a:prstGeom>
          <a:solidFill>
            <a:srgbClr val="FAE5D3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0392B"/>
                </a:solidFill>
                <a:latin typeface="Yu Gothic"/>
              </a:rPr>
              <a:t>ハード制約だと壊れる例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受講生のスキル合計を 8 グループに均等配分したい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Σᵢ skillᵢ xᵢ,g  =  AvgPoints  ∀g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→ skill が整数で、AvgPoints が割り切れなければ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実行可能解が存在しない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「絶対こうしたい」を絶対にすると、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ちょっとした入力で全部壊れる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486400" cy="4572000"/>
          </a:xfrm>
          <a:prstGeom prst="roundRect">
            <a:avLst/>
          </a:prstGeom>
          <a:solidFill>
            <a:srgbClr val="E8F8F5"/>
          </a:solidFill>
          <a:ln w="15240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2763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6A085"/>
                </a:solidFill>
                <a:latin typeface="Yu Gothic"/>
              </a:rPr>
              <a:t>ソフト化: 偏差を最小化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Σᵢ skillᵢ xᵢ,g  +  uᵍ  -  oᵍ  =  AvgPoints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uᵍ, oᵍ ≥ 0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目的に偏差ペナルティを足す: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minimize   Σ_g ( uᵍ + oᵍ )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★研究室文脈: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CIM/CAC のロス関数 = エネルギー + ペナルティ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「ペナルティ係数の重み」が実装上の自由度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ハード制約を直接書くより、ペナルティ化で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最適化問題に乗せ直すアプローチが多い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5A5A6"/>
                </a:solidFill>
                <a:latin typeface="Yu Gothic"/>
              </a:rPr>
              <a:t>BrainPad 数理最適化研修 報告 (五十嵐研)  /  出典: 数理最適化研修 (BrainPad Inc., 2025)  /  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1C40F"/>
                </a:solidFill>
                <a:latin typeface="Yu Gothic"/>
              </a:rPr>
              <a:t>Part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研究室の研究との接続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MaxCut を 0-1 IP として書く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E2F2"/>
                </a:solidFill>
                <a:latin typeface="Yu Gothic"/>
              </a:rPr>
              <a:t>研究テーマを定式化の言葉で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Yu Gothic"/>
              </a:rPr>
              <a:t>G-set / G22 (N=2000) — MILP ソルバーの「典型問題」と同じ枠組みで書ける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86400" cy="4572000"/>
          </a:xfrm>
          <a:prstGeom prst="roundRect">
            <a:avLst/>
          </a:prstGeom>
          <a:solidFill>
            <a:srgbClr val="FAE5D3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0392B"/>
                </a:solidFill>
                <a:latin typeface="Yu Gothic"/>
              </a:rPr>
              <a:t>(1) ナイーブな 0-1 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決定変数: xᵢ ∈ {0, 1}    頂点 i を集合 A か B かで分ける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辺 (i, j) がカットされる ⇔ xᵢ ≠ xⱼ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  ⇔  xᵢ + xⱼ - 2 xᵢ xⱼ  =  1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目的: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maximize  Σ_(i,j)∈E  (xᵢ + xⱼ - 2 xᵢ xⱼ)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→ 2 次項が出る  ⇒  QUBO 形式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→ Cbc では解けない (Gurobi なら可)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486400" cy="4572000"/>
          </a:xfrm>
          <a:prstGeom prst="roundRect">
            <a:avLst/>
          </a:prstGeom>
          <a:solidFill>
            <a:srgbClr val="ECF2F9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2763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Yu Gothic"/>
              </a:rPr>
              <a:t>(2) 線形化 IP (本物の MILP)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新変数 yᵢⱼ ∈ {0, 1} を導入 ── yᵢⱼ = (xᵢ XOR xⱼ)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maximize  Σ_(i,j)∈E  yᵢⱼ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subject to: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yᵢⱼ  ≤  xᵢ + xⱼ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yᵢⱼ  ≤  2 - xᵢ - xⱼ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yᵢⱼ  ≥  xᵢ - xⱼ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yᵢⱼ  ≥  xⱼ - xᵢ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★MILP ソルバーで解ける形に変換可能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だが N=2000 で辺 19990 本では現実時間で解けない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5A5A6"/>
                </a:solidFill>
                <a:latin typeface="Yu Gothic"/>
              </a:rPr>
              <a:t>BrainPad 数理最適化研修 報告 (五十嵐研)  /  出典: 数理最適化研修 (BrainPad Inc., 2025)  /  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MILP ソルバー vs CIM / CAC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E2F2"/>
                </a:solidFill>
                <a:latin typeface="Yu Gothic"/>
              </a:rPr>
              <a:t>アプローチの住み分け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4846320"/>
              </a:tblGrid>
              <a:tr h="6172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/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>MILP ソルバー (Gurobi/Cbc)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</a:rPr>
                        <a:t>CIM / CAC / SA / SB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4E79"/>
                          </a:solidFill>
                          <a:latin typeface="Yu Gothic"/>
                        </a:rPr>
                        <a:t>定式化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4A"/>
                          </a:solidFill>
                          <a:latin typeface="Yu Gothic"/>
                        </a:rPr>
                        <a:t>0-1 IP / QUBO の線形化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4A"/>
                          </a:solidFill>
                          <a:latin typeface="Yu Gothic"/>
                        </a:rPr>
                        <a:t>Ising ハミルトニアン  H = -Σ Jᵢⱼ σᵢ σⱼ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4E79"/>
                          </a:solidFill>
                          <a:latin typeface="Yu Gothic"/>
                        </a:rPr>
                        <a:t>決定変数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4A"/>
                          </a:solidFill>
                          <a:latin typeface="Yu Gothic"/>
                        </a:rPr>
                        <a:t>xᵢ ∈ {0, 1}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4A"/>
                          </a:solidFill>
                          <a:latin typeface="Yu Gothic"/>
                        </a:rPr>
                        <a:t>σᵢ ∈ {-1, +1}  (光振幅 cᵢ の符号)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4E79"/>
                          </a:solidFill>
                          <a:latin typeface="Yu Gothic"/>
                        </a:rPr>
                        <a:t>保証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4A"/>
                          </a:solidFill>
                          <a:latin typeface="Yu Gothic"/>
                        </a:rPr>
                        <a:t>最適性ギャップを数値で出せる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4A"/>
                          </a:solidFill>
                          <a:latin typeface="Yu Gothic"/>
                        </a:rPr>
                        <a:t>近似解。最適性証明なし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4E79"/>
                          </a:solidFill>
                          <a:latin typeface="Yu Gothic"/>
                        </a:rPr>
                        <a:t>小規模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4A"/>
                          </a:solidFill>
                          <a:latin typeface="Yu Gothic"/>
                        </a:rPr>
                        <a:t>N ≤ 100 なら数秒で厳密最適解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4A"/>
                          </a:solidFill>
                          <a:latin typeface="Yu Gothic"/>
                        </a:rPr>
                        <a:t>オーバーキル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4E79"/>
                          </a:solidFill>
                          <a:latin typeface="Yu Gothic"/>
                        </a:rPr>
                        <a:t>G-set 規模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4A"/>
                          </a:solidFill>
                          <a:latin typeface="Yu Gothic"/>
                        </a:rPr>
                        <a:t>N=2000 では時間切れになる場合あり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4A"/>
                          </a:solidFill>
                          <a:latin typeface="Yu Gothic"/>
                        </a:rPr>
                        <a:t>数百 ms で best_cut ≈ 13320 (G22)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4E79"/>
                          </a:solidFill>
                          <a:latin typeface="Yu Gothic"/>
                        </a:rPr>
                        <a:t>パラメータ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4A"/>
                          </a:solidFill>
                          <a:latin typeface="Yu Gothic"/>
                        </a:rPr>
                        <a:t>ほぼなし (gap, time limit 程度)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4A"/>
                          </a:solidFill>
                          <a:latin typeface="Yu Gothic"/>
                        </a:rPr>
                        <a:t>kappa, gamma, dP/round, 損失 dB …多数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4E79"/>
                          </a:solidFill>
                          <a:latin typeface="Yu Gothic"/>
                        </a:rPr>
                        <a:t>役割</a:t>
                      </a:r>
                    </a:p>
                  </a:txBody>
                  <a:tcPr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4A"/>
                          </a:solidFill>
                          <a:latin typeface="Yu Gothic"/>
                        </a:rPr>
                        <a:t>「正解はこれ」と保証する基準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4A"/>
                          </a:solidFill>
                          <a:latin typeface="Yu Gothic"/>
                        </a:rPr>
                        <a:t>規模を上げたときの実用的な解法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Yu Gothic"/>
              </a:rPr>
              <a:t>→ どちらか一方ではなく、「小規模は MILP で答合わせ、大規模は CIM」が現実的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5A5A6"/>
                </a:solidFill>
                <a:latin typeface="Yu Gothic"/>
              </a:rPr>
              <a:t>BrainPad 数理最適化研修 報告 (五十嵐研)  /  出典: 数理最適化研修 (BrainPad Inc., 2025)  /  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Optuna も「最適化問題」だった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E2F2"/>
                </a:solidFill>
                <a:latin typeface="Yu Gothic"/>
              </a:rPr>
              <a:t>連続・ブラックボックス最適化として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Yu Gothic"/>
              </a:rPr>
              <a:t>BrainPad の分類でいうと「連続 × 非線形 × ブラックボックス目的関数」に該当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86400" cy="4572000"/>
          </a:xfrm>
          <a:prstGeom prst="roundRect">
            <a:avLst/>
          </a:prstGeom>
          <a:solidFill>
            <a:srgbClr val="FDF6E3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0392B"/>
                </a:solidFill>
                <a:latin typeface="Yu Gothic"/>
              </a:rPr>
              <a:t>Optuna のお気持ちを LP/IP の言葉で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決定変数 (連続):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L, gamma, loss_dB, dP_per_round, coupling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目的関数 (ブラックボックス):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f(params) = 20 試行平均の best_cut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制約条件: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各パラの探索範囲 (suggest_float の min/max)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→ 「数式で目的関数が書けない」点だけが LP と違う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→ TPE 等のサンプラーで賢く点を打って探す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486400" cy="4572000"/>
          </a:xfrm>
          <a:prstGeom prst="roundRect">
            <a:avLst/>
          </a:prstGeom>
          <a:solidFill>
            <a:srgbClr val="ECF2F9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2763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Yu Gothic"/>
              </a:rPr>
              <a:t>今週やった num_rounds スイープの位置づけ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外側ループ (人がやる): num_rounds ∈ {30, 300, 3k, 10k}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内側ループ (Optuna):  5 パラを TPE で探索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→ 計算予算 = (rounds × n_trials) ほぼ一定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得られた知見: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・30 rounds: 論文値 10337 → Optuna 12886 (+2549)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・3000+ rounds: 既に飽和し改善幅 +20 程度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= 数理最適化の枠組みで「最適化を最適化」している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(メタ最適化)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5A5A6"/>
                </a:solidFill>
                <a:latin typeface="Yu Gothic"/>
              </a:rPr>
              <a:t>BrainPad 数理最適化研修 報告 (五十嵐研)  /  出典: 数理最適化研修 (BrainPad Inc., 2025)  /  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今後 研究室でこう活かす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E2F2"/>
                </a:solidFill>
                <a:latin typeface="Yu Gothic"/>
              </a:rPr>
              <a:t>学んだことの再翻訳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A4A4A"/>
                </a:solidFill>
                <a:latin typeface="Yu Gothic"/>
              </a:rPr>
              <a:t>•  自分の問題を「3 要素」で書く癖</a:t>
            </a:r>
          </a:p>
          <a:p>
            <a:pPr algn="l" lvl="1"/>
            <a:r>
              <a:rPr sz="1200">
                <a:solidFill>
                  <a:srgbClr val="4A4A4A"/>
                </a:solidFill>
                <a:latin typeface="Yu Gothic"/>
              </a:rPr>
              <a:t>‣  CIM 研究でも、評価関数を変えるときは『目的・変数・制約』に分解する</a:t>
            </a:r>
          </a:p>
          <a:p>
            <a:pPr algn="l" lvl="1"/>
            <a:r>
              <a:rPr sz="1200">
                <a:solidFill>
                  <a:srgbClr val="4A4A4A"/>
                </a:solidFill>
                <a:latin typeface="Yu Gothic"/>
              </a:rPr>
              <a:t>‣  ペナルティ係数の議論は「ソフト制約のチューニング」と同じ</a:t>
            </a:r>
          </a:p>
          <a:p>
            <a:pPr algn="l"/>
            <a:r>
              <a:rPr sz="13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300">
                <a:solidFill>
                  <a:srgbClr val="4A4A4A"/>
                </a:solidFill>
                <a:latin typeface="Yu Gothic"/>
              </a:rPr>
              <a:t>•  典型問題のカタログを持つ</a:t>
            </a:r>
          </a:p>
          <a:p>
            <a:pPr algn="l" lvl="1"/>
            <a:r>
              <a:rPr sz="1200">
                <a:solidFill>
                  <a:srgbClr val="4A4A4A"/>
                </a:solidFill>
                <a:latin typeface="Yu Gothic"/>
              </a:rPr>
              <a:t>‣  ナップサック / 施設配置 / 割当 / スケジューリングは応用範囲が広い</a:t>
            </a:r>
          </a:p>
          <a:p>
            <a:pPr algn="l" lvl="1"/>
            <a:r>
              <a:rPr sz="1200">
                <a:solidFill>
                  <a:srgbClr val="4A4A4A"/>
                </a:solidFill>
                <a:latin typeface="Yu Gothic"/>
              </a:rPr>
              <a:t>‣  MaxCut の派生(重み付き / k-cut / 制約付き)を IP として書けるようにする</a:t>
            </a:r>
          </a:p>
          <a:p>
            <a:pPr algn="l"/>
            <a:r>
              <a:rPr sz="13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300">
                <a:solidFill>
                  <a:srgbClr val="4A4A4A"/>
                </a:solidFill>
                <a:latin typeface="Yu Gothic"/>
              </a:rPr>
              <a:t>•  小規模ベンチマークで答え合わせをする</a:t>
            </a:r>
          </a:p>
          <a:p>
            <a:pPr algn="l" lvl="1"/>
            <a:r>
              <a:rPr sz="1200">
                <a:solidFill>
                  <a:srgbClr val="4A4A4A"/>
                </a:solidFill>
                <a:latin typeface="Yu Gothic"/>
              </a:rPr>
              <a:t>‣  N ≤ 100 の MaxCut なら Gurobi で厳密最適を求めて CIM と比較できる</a:t>
            </a:r>
          </a:p>
          <a:p>
            <a:pPr algn="l" lvl="1"/>
            <a:r>
              <a:rPr sz="1200">
                <a:solidFill>
                  <a:srgbClr val="4A4A4A"/>
                </a:solidFill>
                <a:latin typeface="Yu Gothic"/>
              </a:rPr>
              <a:t>‣  「13321 が本当の最適か」を MILP ソルバーで証明する逆方向の研究も可能</a:t>
            </a:r>
          </a:p>
          <a:p>
            <a:pPr algn="l"/>
            <a:r>
              <a:rPr sz="13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300">
                <a:solidFill>
                  <a:srgbClr val="4A4A4A"/>
                </a:solidFill>
                <a:latin typeface="Yu Gothic"/>
              </a:rPr>
              <a:t>•  メタ最適化を意識的に設計する</a:t>
            </a:r>
          </a:p>
          <a:p>
            <a:pPr algn="l" lvl="1"/>
            <a:r>
              <a:rPr sz="1200">
                <a:solidFill>
                  <a:srgbClr val="4A4A4A"/>
                </a:solidFill>
                <a:latin typeface="Yu Gothic"/>
              </a:rPr>
              <a:t>‣  Optuna 探索空間・予算配分・warm start は「最適化問題の設計問題」と捉える</a:t>
            </a:r>
          </a:p>
          <a:p>
            <a:pPr algn="l" lvl="1"/>
            <a:r>
              <a:rPr sz="1200">
                <a:solidFill>
                  <a:srgbClr val="4A4A4A"/>
                </a:solidFill>
                <a:latin typeface="Yu Gothic"/>
              </a:rPr>
              <a:t>‣  BrainPad の「ハード→ソフト制約」の発想で、Optuna の探索を頑健にできる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5A5A6"/>
                </a:solidFill>
                <a:latin typeface="Yu Gothic"/>
              </a:rPr>
              <a:t>BrainPad 数理最適化研修 報告 (五十嵐研)  /  出典: 数理最適化研修 (BrainPad Inc., 2025)  /  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E2F2"/>
                </a:solidFill>
                <a:latin typeface="Yu Gothic"/>
              </a:rPr>
              <a:t>持ち帰る 3 つのメッセージ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280160"/>
            <a:ext cx="822960" cy="8229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1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Yu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Yu Gothic"/>
              </a:rPr>
              <a:t>数理最適化 = 目的関数 / 決定変数 / 制約 の 3 要素で世界を書き直す技術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83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Yu Gothic"/>
              </a:rPr>
              <a:t>  自分の研究も「何を最大化したいか」を言語化する練習になる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926080"/>
            <a:ext cx="822960" cy="8229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090672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Yu Gothic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Yu Gothic"/>
              </a:rPr>
              <a:t>LP / IP / MIP は「問題のタイプ」のラベル。MaxCut は 0-1 IP の典型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29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Yu Gothic"/>
              </a:rPr>
              <a:t>  CIM はその「フルスクラッチ・問題固有」アプローチ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572000"/>
            <a:ext cx="822960" cy="8229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736592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Yu Gothi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Yu Gothic"/>
              </a:rPr>
              <a:t>ソルバーは選ぶもの。汎用ソルバー / CIM / Optuna は同じ最適化の家族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074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Yu Gothic"/>
              </a:rPr>
              <a:t>  問題規模と保証要件で住み分ければよい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5A5A6"/>
                </a:solidFill>
                <a:latin typeface="Yu Gothic"/>
              </a:rPr>
              <a:t>BrainPad 数理最適化研修 報告 (五十嵐研)  /  出典: 数理最適化研修 (BrainPad Inc., 2025)  /  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参考文献 / 今後の学習リスト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E2F2"/>
                </a:solidFill>
                <a:latin typeface="Yu Gothic"/>
              </a:rPr>
              <a:t>⑧ 今後学ぶと良いこと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486400" cy="5029200"/>
          </a:xfrm>
          <a:prstGeom prst="roundRect">
            <a:avLst/>
          </a:prstGeom>
          <a:solidFill>
            <a:srgbClr val="ECF2F9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Yu Gothic"/>
              </a:rPr>
              <a:t>典型問題を学ぶ書籍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「Python ではじめる数理最適化」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(BrainPad DS 新卒指定書籍)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実務寄り、モデリング多数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「あたらしい数理最適化」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典型問題のコツが詰まっている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Williams 「Model Building in Mathematical Programming」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MIP モデリングの聖典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梅谷俊治 「しっかり学ぶ数理最適化」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理論寄り (BrainPad 資料の引用元)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486400" cy="5029200"/>
          </a:xfrm>
          <a:prstGeom prst="roundRect">
            <a:avLst/>
          </a:prstGeom>
          <a:solidFill>
            <a:srgbClr val="FDF6E3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170432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0392B"/>
                </a:solidFill>
                <a:latin typeface="Yu Gothic"/>
              </a:rPr>
              <a:t>次のステップ (研究との結合)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ヒューリスティクスを学ぶ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AtCoder Heuristic Contest (AHC)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焼きなまし・ビームサーチ etc.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→ CIM/CAC を SA と並べる審美眼が育つ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他ソルバーに触れる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OR-Tools CP-SAT (論理制約に強い)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Gurobi (有償だが学術ライセンス可)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Web アプリ化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研究結果をデモにしたいときに必要</a:t>
            </a:r>
          </a:p>
          <a:p>
            <a:pPr algn="l"/>
            <a:r>
              <a:rPr sz="1200">
                <a:solidFill>
                  <a:srgbClr val="4A4A4A"/>
                </a:solidFill>
                <a:latin typeface="Yu Gothic"/>
              </a:rPr>
              <a:t>•    Streamlit + PuLP の組合せが簡単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5A5A6"/>
                </a:solidFill>
                <a:latin typeface="Yu Gothic"/>
              </a:rPr>
              <a:t>原典: BrainPad『数理最適化研修』(社内公開資料, 2025) を研究室文脈で再構成 — 内容の責任は本発表者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5A5A6"/>
                </a:solidFill>
                <a:latin typeface="Yu Gothic"/>
              </a:rPr>
              <a:t>BrainPad 数理最適化研修 報告 (五十嵐研)  /  出典: 数理最適化研修 (BrainPad Inc., 2025)  /  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