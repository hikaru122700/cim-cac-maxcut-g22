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07a570a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07a570a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409d9ea1e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409d9ea1e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07a570a8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07a570a8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cfca0c97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cfca0c97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acca143f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acca143f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8e1baba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8e1baba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9652d3d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9652d3d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e249541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e249541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9652d3d7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9652d3d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b1ac156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9b1ac156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進捗報告</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2026/09/28 三輪光</a:t>
            </a:r>
            <a:endParaRPr/>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Project（先週のアクション）</a:t>
            </a:r>
            <a:endParaRPr/>
          </a:p>
        </p:txBody>
      </p:sp>
      <p:sp>
        <p:nvSpPr>
          <p:cNvPr id="62" name="Google Shape;62;p14"/>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コヒーレントイジングマシンによる組合せ最適化アルゴリズム</a:t>
            </a:r>
            <a:endParaRPr/>
          </a:p>
          <a:p>
            <a:pPr indent="-317500" lvl="1" marL="914400" rtl="0" algn="l">
              <a:spcBef>
                <a:spcPts val="0"/>
              </a:spcBef>
              <a:spcAft>
                <a:spcPts val="0"/>
              </a:spcAft>
              <a:buClr>
                <a:schemeClr val="dk1"/>
              </a:buClr>
              <a:buSzPts val="1400"/>
              <a:buChar char="➢"/>
            </a:pPr>
            <a:r>
              <a:rPr lang="ja">
                <a:solidFill>
                  <a:schemeClr val="dk1"/>
                </a:solidFill>
              </a:rPr>
              <a:t>CIMと他手法の融合による性能の変化</a:t>
            </a:r>
            <a:endParaRPr>
              <a:solidFill>
                <a:schemeClr val="dk1"/>
              </a:solidFill>
            </a:endParaRPr>
          </a:p>
          <a:p>
            <a:pPr indent="-317500" lvl="1" marL="914400" rtl="0" algn="l">
              <a:spcBef>
                <a:spcPts val="0"/>
              </a:spcBef>
              <a:spcAft>
                <a:spcPts val="0"/>
              </a:spcAft>
              <a:buClr>
                <a:schemeClr val="dk1"/>
              </a:buClr>
              <a:buSzPts val="1400"/>
              <a:buChar char="➢"/>
            </a:pPr>
            <a:r>
              <a:rPr lang="ja">
                <a:solidFill>
                  <a:schemeClr val="dk1"/>
                </a:solidFill>
              </a:rPr>
              <a:t>CIMの多様性の評価（平均ペアワイズ距離の測定）</a:t>
            </a:r>
            <a:endParaRPr>
              <a:solidFill>
                <a:schemeClr val="dk1"/>
              </a:solidFill>
            </a:endParaRPr>
          </a:p>
          <a:p>
            <a:pPr indent="-317500" lvl="1" marL="914400" rtl="0" algn="l">
              <a:spcBef>
                <a:spcPts val="0"/>
              </a:spcBef>
              <a:spcAft>
                <a:spcPts val="0"/>
              </a:spcAft>
              <a:buClr>
                <a:srgbClr val="E06666"/>
              </a:buClr>
              <a:buSzPts val="1400"/>
              <a:buChar char="➢"/>
            </a:pPr>
            <a:r>
              <a:rPr lang="ja">
                <a:solidFill>
                  <a:srgbClr val="E06666"/>
                </a:solidFill>
              </a:rPr>
              <a:t>振り返り</a:t>
            </a:r>
            <a:endParaRPr>
              <a:solidFill>
                <a:srgbClr val="E06666"/>
              </a:solidFill>
            </a:endParaRPr>
          </a:p>
          <a:p>
            <a:pPr indent="-317500" lvl="1" marL="914400" rtl="0" algn="l">
              <a:spcBef>
                <a:spcPts val="0"/>
              </a:spcBef>
              <a:spcAft>
                <a:spcPts val="0"/>
              </a:spcAft>
              <a:buClr>
                <a:srgbClr val="E06666"/>
              </a:buClr>
              <a:buSzPts val="1400"/>
              <a:buChar char="➢"/>
            </a:pPr>
            <a:r>
              <a:rPr lang="ja">
                <a:solidFill>
                  <a:srgbClr val="E06666"/>
                </a:solidFill>
              </a:rPr>
              <a:t>なぜ多様性が必要なのか</a:t>
            </a:r>
            <a:endParaRPr>
              <a:solidFill>
                <a:srgbClr val="E06666"/>
              </a:solidFill>
            </a:endParaRPr>
          </a:p>
          <a:p>
            <a:pPr indent="0" lvl="0" marL="0" rtl="0" algn="l">
              <a:spcBef>
                <a:spcPts val="1200"/>
              </a:spcBef>
              <a:spcAft>
                <a:spcPts val="0"/>
              </a:spcAft>
              <a:buNone/>
            </a:pPr>
            <a:r>
              <a:t/>
            </a:r>
            <a:endParaRPr>
              <a:solidFill>
                <a:srgbClr val="E06666"/>
              </a:solidFill>
            </a:endParaRPr>
          </a:p>
          <a:p>
            <a:pPr indent="0" lvl="0" marL="9144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solidFill>
                <a:srgbClr val="E06666"/>
              </a:solidFill>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69" name="Google Shape;69;p15"/>
          <p:cNvPicPr preferRelativeResize="0"/>
          <p:nvPr/>
        </p:nvPicPr>
        <p:blipFill>
          <a:blip r:embed="rId3">
            <a:alphaModFix/>
          </a:blip>
          <a:stretch>
            <a:fillRect/>
          </a:stretch>
        </p:blipFill>
        <p:spPr>
          <a:xfrm>
            <a:off x="152400" y="851625"/>
            <a:ext cx="6486451" cy="4130700"/>
          </a:xfrm>
          <a:prstGeom prst="rect">
            <a:avLst/>
          </a:prstGeom>
          <a:noFill/>
          <a:ln>
            <a:noFill/>
          </a:ln>
        </p:spPr>
      </p:pic>
      <p:sp>
        <p:nvSpPr>
          <p:cNvPr id="70" name="Google Shape;70;p15"/>
          <p:cNvSpPr txBox="1"/>
          <p:nvPr/>
        </p:nvSpPr>
        <p:spPr>
          <a:xfrm>
            <a:off x="144575" y="123250"/>
            <a:ext cx="6755400" cy="6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GAにおいて多様性が必要であることの確認</a:t>
            </a:r>
            <a:endParaRPr sz="1800">
              <a:solidFill>
                <a:schemeClr val="dk2"/>
              </a:solidFill>
            </a:endParaRPr>
          </a:p>
        </p:txBody>
      </p:sp>
      <p:sp>
        <p:nvSpPr>
          <p:cNvPr id="71" name="Google Shape;71;p15"/>
          <p:cNvSpPr txBox="1"/>
          <p:nvPr/>
        </p:nvSpPr>
        <p:spPr>
          <a:xfrm>
            <a:off x="6769500" y="905450"/>
            <a:ext cx="2251500" cy="38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chemeClr val="dk2"/>
                </a:solidFill>
              </a:rPr>
              <a:t>背景：CIM→GAで解を良くしたい。しかし、カット数が多い解を渡しても改善しないものもある。（G55.G70）</a:t>
            </a:r>
            <a:endParaRPr sz="1200">
              <a:solidFill>
                <a:schemeClr val="dk2"/>
              </a:solidFill>
            </a:endParaRPr>
          </a:p>
          <a:p>
            <a:pPr indent="0" lvl="0" marL="0" rtl="0" algn="l">
              <a:spcBef>
                <a:spcPts val="0"/>
              </a:spcBef>
              <a:spcAft>
                <a:spcPts val="0"/>
              </a:spcAft>
              <a:buNone/>
            </a:pPr>
            <a:r>
              <a:rPr lang="ja" sz="1200">
                <a:solidFill>
                  <a:schemeClr val="dk2"/>
                </a:solidFill>
              </a:rPr>
              <a:t>GAに投入した後の改善可能性を評価する指標があれば、それに向けたCIMの解を持ってくる、作成することができる。</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ja" sz="1200">
                <a:solidFill>
                  <a:schemeClr val="dk2"/>
                </a:solidFill>
              </a:rPr>
              <a:t>検証：既存の結果に多様性スコアも併せて解析する。</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ja" sz="1200">
                <a:solidFill>
                  <a:schemeClr val="dk2"/>
                </a:solidFill>
              </a:rPr>
              <a:t>結果：今までの多様性スコアの評価では、世代数の増加とともに改善するかどうか正しく評価できていない</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ja" sz="1200">
                <a:solidFill>
                  <a:schemeClr val="dk2"/>
                </a:solidFill>
              </a:rPr>
              <a:t>※具体では、G55,70において、多様性スコアは良いのに、スコアが向上しない。</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Project</a:t>
            </a:r>
            <a:r>
              <a:rPr lang="ja"/>
              <a:t>（来週行うこと）</a:t>
            </a:r>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78" name="Google Shape;78;p16"/>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コヒーレントイジングマシンによる組合せ最適化アルゴリズム</a:t>
            </a:r>
            <a:endParaRPr/>
          </a:p>
          <a:p>
            <a:pPr indent="-317500" lvl="1" marL="914400" rtl="0" algn="l">
              <a:spcBef>
                <a:spcPts val="0"/>
              </a:spcBef>
              <a:spcAft>
                <a:spcPts val="0"/>
              </a:spcAft>
              <a:buClr>
                <a:srgbClr val="E06666"/>
              </a:buClr>
              <a:buSzPts val="1400"/>
              <a:buChar char="➢"/>
            </a:pPr>
            <a:r>
              <a:rPr lang="ja">
                <a:solidFill>
                  <a:srgbClr val="E06666"/>
                </a:solidFill>
              </a:rPr>
              <a:t>GAやSAにおいて改善する可能性のあるCIM解の評価</a:t>
            </a:r>
            <a:endParaRPr>
              <a:solidFill>
                <a:srgbClr val="E06666"/>
              </a:solidFill>
            </a:endParaRPr>
          </a:p>
          <a:p>
            <a:pPr indent="-317500" lvl="2" marL="1371600" rtl="0" algn="l">
              <a:spcBef>
                <a:spcPts val="0"/>
              </a:spcBef>
              <a:spcAft>
                <a:spcPts val="0"/>
              </a:spcAft>
              <a:buClr>
                <a:srgbClr val="E06666"/>
              </a:buClr>
              <a:buSzPts val="1400"/>
              <a:buChar char="■"/>
            </a:pPr>
            <a:r>
              <a:rPr lang="ja">
                <a:solidFill>
                  <a:srgbClr val="E06666"/>
                </a:solidFill>
              </a:rPr>
              <a:t>関連論文のサーベイ</a:t>
            </a:r>
            <a:endParaRPr>
              <a:solidFill>
                <a:srgbClr val="E06666"/>
              </a:solidFill>
            </a:endParaRPr>
          </a:p>
          <a:p>
            <a:pPr indent="0" lvl="0" marL="0" rtl="0" algn="l">
              <a:spcBef>
                <a:spcPts val="1200"/>
              </a:spcBef>
              <a:spcAft>
                <a:spcPts val="0"/>
              </a:spcAft>
              <a:buNone/>
            </a:pPr>
            <a:r>
              <a:t/>
            </a:r>
            <a:endParaRPr>
              <a:solidFill>
                <a:srgbClr val="E06666"/>
              </a:solidFill>
            </a:endParaRPr>
          </a:p>
          <a:p>
            <a:pPr indent="0" lvl="0" marL="0" rtl="0" algn="l">
              <a:spcBef>
                <a:spcPts val="1200"/>
              </a:spcBef>
              <a:spcAft>
                <a:spcPts val="0"/>
              </a:spcAft>
              <a:buNone/>
            </a:pPr>
            <a:r>
              <a:t/>
            </a:r>
            <a:endParaRPr/>
          </a:p>
          <a:p>
            <a:pPr indent="0" lvl="0" marL="9144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solidFill>
                <a:srgbClr val="E066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1868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3600"/>
              <a:t>Ap</a:t>
            </a:r>
            <a:r>
              <a:rPr lang="ja" sz="3600"/>
              <a:t>p</a:t>
            </a:r>
            <a:r>
              <a:rPr lang="ja" sz="3600"/>
              <a:t>endix</a:t>
            </a:r>
            <a:endParaRPr sz="3600"/>
          </a:p>
        </p:txBody>
      </p:sp>
      <p:sp>
        <p:nvSpPr>
          <p:cNvPr id="84" name="Google Shape;8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62850" y="0"/>
            <a:ext cx="7926000" cy="505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900"/>
              <a:t>【ゴール】</a:t>
            </a:r>
            <a:endParaRPr sz="900"/>
          </a:p>
          <a:p>
            <a:pPr indent="0" lvl="0" marL="0" rtl="0" algn="l">
              <a:spcBef>
                <a:spcPts val="0"/>
              </a:spcBef>
              <a:spcAft>
                <a:spcPts val="0"/>
              </a:spcAft>
              <a:buNone/>
            </a:pPr>
            <a:r>
              <a:rPr lang="ja" sz="900"/>
              <a:t>MAX-CUTを含むNP困難な組合せ最適化問題に対して、限られた計算時間内で高品質な解を得る手法を構築する。</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【背景】</a:t>
            </a:r>
            <a:endParaRPr sz="900"/>
          </a:p>
          <a:p>
            <a:pPr indent="0" lvl="0" marL="0" rtl="0" algn="l">
              <a:spcBef>
                <a:spcPts val="0"/>
              </a:spcBef>
              <a:spcAft>
                <a:spcPts val="0"/>
              </a:spcAft>
              <a:buNone/>
            </a:pPr>
            <a:r>
              <a:rPr lang="ja" sz="900"/>
              <a:t>SAやGAによる探索では、初期解の与え方が探索初期の解品質に影響する。一方、良好な初期解を用意するためにも計算コストが必要であり、初期解の改善が最終的な解品質や計算時間の短縮につながるかを検証する必要がある。</a:t>
            </a:r>
            <a:endParaRPr sz="900"/>
          </a:p>
          <a:p>
            <a:pPr indent="0" lvl="0" marL="0" rtl="0" algn="l">
              <a:spcBef>
                <a:spcPts val="0"/>
              </a:spcBef>
              <a:spcAft>
                <a:spcPts val="0"/>
              </a:spcAft>
              <a:buNone/>
            </a:pPr>
            <a:r>
              <a:rPr lang="ja" sz="900"/>
              <a:t>そこで、CIMで得た解をSAやGAに引き継ぐことで、両者を組み合わせた探索の効率化を検討する。</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【目的】</a:t>
            </a:r>
            <a:endParaRPr sz="900"/>
          </a:p>
          <a:p>
            <a:pPr indent="0" lvl="0" marL="0" rtl="0" algn="l">
              <a:spcBef>
                <a:spcPts val="0"/>
              </a:spcBef>
              <a:spcAft>
                <a:spcPts val="0"/>
              </a:spcAft>
              <a:buNone/>
            </a:pPr>
            <a:r>
              <a:rPr lang="ja" sz="900"/>
              <a:t>CIMの出力解を初期解として用いることが、ランダム初期解と比較して、探索中の解品質および目標の解品質に到達するまでの時間を改善するかを明らかにする。</a:t>
            </a:r>
            <a:endParaRPr sz="900"/>
          </a:p>
          <a:p>
            <a:pPr indent="0" lvl="0" marL="0" rtl="0" algn="l">
              <a:spcBef>
                <a:spcPts val="0"/>
              </a:spcBef>
              <a:spcAft>
                <a:spcPts val="0"/>
              </a:spcAft>
              <a:buNone/>
            </a:pPr>
            <a:r>
              <a:rPr lang="ja" sz="900"/>
              <a:t>また、その効果が持続する探索予算と、有効な問題の条件を明らかにする。</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【手段】</a:t>
            </a:r>
            <a:endParaRPr sz="900"/>
          </a:p>
          <a:p>
            <a:pPr indent="0" lvl="0" marL="0" rtl="0" algn="l">
              <a:spcBef>
                <a:spcPts val="0"/>
              </a:spcBef>
              <a:spcAft>
                <a:spcPts val="0"/>
              </a:spcAft>
              <a:buNone/>
            </a:pPr>
            <a:r>
              <a:rPr lang="ja" sz="900"/>
              <a:t>・SAの初期状態、およびGAの初期集団の生成にCIMの出力解を利用する。</a:t>
            </a:r>
            <a:endParaRPr sz="900"/>
          </a:p>
          <a:p>
            <a:pPr indent="0" lvl="0" marL="0" rtl="0" algn="l">
              <a:spcBef>
                <a:spcPts val="0"/>
              </a:spcBef>
              <a:spcAft>
                <a:spcPts val="0"/>
              </a:spcAft>
              <a:buNone/>
            </a:pPr>
            <a:r>
              <a:rPr lang="ja" sz="900"/>
              <a:t>・ランダム初期化を比較対象とし、探索の進行に伴う最良解の推移を比較する。</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【結果】</a:t>
            </a:r>
            <a:endParaRPr sz="900"/>
          </a:p>
          <a:p>
            <a:pPr indent="0" lvl="0" marL="0" rtl="0" algn="l">
              <a:spcBef>
                <a:spcPts val="0"/>
              </a:spcBef>
              <a:spcAft>
                <a:spcPts val="0"/>
              </a:spcAft>
              <a:buNone/>
            </a:pPr>
            <a:r>
              <a:rPr lang="ja" sz="900"/>
              <a:t>現時点の観察では、CIMの出力解を利用することで、</a:t>
            </a:r>
            <a:endParaRPr sz="900"/>
          </a:p>
          <a:p>
            <a:pPr indent="0" lvl="0" marL="0" rtl="0" algn="l">
              <a:spcBef>
                <a:spcPts val="0"/>
              </a:spcBef>
              <a:spcAft>
                <a:spcPts val="0"/>
              </a:spcAft>
              <a:buNone/>
            </a:pPr>
            <a:r>
              <a:rPr lang="ja" sz="900"/>
              <a:t>ランダム初期化よりも良好な解から探索を開始できた。</a:t>
            </a:r>
            <a:endParaRPr sz="900"/>
          </a:p>
          <a:p>
            <a:pPr indent="0" lvl="0" marL="0" rtl="0" algn="l">
              <a:spcBef>
                <a:spcPts val="0"/>
              </a:spcBef>
              <a:spcAft>
                <a:spcPts val="0"/>
              </a:spcAft>
              <a:buNone/>
            </a:pPr>
            <a:r>
              <a:rPr lang="ja" sz="900"/>
              <a:t>一方、</a:t>
            </a:r>
            <a:r>
              <a:rPr lang="ja" sz="900"/>
              <a:t>問題によっては</a:t>
            </a:r>
            <a:r>
              <a:rPr lang="ja" sz="900"/>
              <a:t>探索を進めると両者の解品質の差が縮小する傾向が見られ、</a:t>
            </a:r>
            <a:endParaRPr sz="900"/>
          </a:p>
          <a:p>
            <a:pPr indent="0" lvl="0" marL="0" rtl="0" algn="l">
              <a:spcBef>
                <a:spcPts val="0"/>
              </a:spcBef>
              <a:spcAft>
                <a:spcPts val="0"/>
              </a:spcAft>
              <a:buNone/>
            </a:pPr>
            <a:r>
              <a:rPr lang="ja" sz="900"/>
              <a:t>初期段階の優位性が探索終了時まで維持されるとは限らなかった。</a:t>
            </a:r>
            <a:endParaRPr sz="900"/>
          </a:p>
          <a:p>
            <a:pPr indent="0" lvl="0" marL="0" rtl="0" algn="l">
              <a:spcBef>
                <a:spcPts val="0"/>
              </a:spcBef>
              <a:spcAft>
                <a:spcPts val="0"/>
              </a:spcAft>
              <a:buNone/>
            </a:pPr>
            <a:r>
              <a:rPr lang="ja" sz="900"/>
              <a:t>ただし、この傾向を確認した問題の範囲や、</a:t>
            </a:r>
            <a:endParaRPr sz="900"/>
          </a:p>
          <a:p>
            <a:pPr indent="0" lvl="0" marL="0" rtl="0" algn="l">
              <a:spcBef>
                <a:spcPts val="0"/>
              </a:spcBef>
              <a:spcAft>
                <a:spcPts val="0"/>
              </a:spcAft>
              <a:buNone/>
            </a:pPr>
            <a:r>
              <a:rPr lang="ja" sz="900"/>
              <a:t>差が縮小するまでの探索量については、十分な定量評価ができていない。</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【考察】</a:t>
            </a:r>
            <a:endParaRPr sz="900"/>
          </a:p>
          <a:p>
            <a:pPr indent="0" lvl="0" marL="0" rtl="0" algn="l">
              <a:spcBef>
                <a:spcPts val="0"/>
              </a:spcBef>
              <a:spcAft>
                <a:spcPts val="0"/>
              </a:spcAft>
              <a:buNone/>
            </a:pPr>
            <a:r>
              <a:rPr lang="ja" sz="900"/>
              <a:t>以上の結果は、初期解の品質を高めることが、探索全体の効率向上に直結するとは限らないことを示唆する。</a:t>
            </a:r>
            <a:endParaRPr sz="900"/>
          </a:p>
          <a:p>
            <a:pPr indent="0" lvl="0" marL="0" rtl="0" algn="l">
              <a:spcBef>
                <a:spcPts val="0"/>
              </a:spcBef>
              <a:spcAft>
                <a:spcPts val="0"/>
              </a:spcAft>
              <a:buNone/>
            </a:pPr>
            <a:r>
              <a:rPr lang="ja" sz="900"/>
              <a:t>差が縮小した理由として、後段の探索によって初期状態への依存が弱まった可能性がある。</a:t>
            </a:r>
            <a:endParaRPr sz="900"/>
          </a:p>
          <a:p>
            <a:pPr indent="0" lvl="0" marL="0" rtl="0" algn="l">
              <a:spcBef>
                <a:spcPts val="0"/>
              </a:spcBef>
              <a:spcAft>
                <a:spcPts val="0"/>
              </a:spcAft>
              <a:buNone/>
            </a:pPr>
            <a:r>
              <a:rPr lang="ja" sz="900"/>
              <a:t>特にGAでは集団内の多様性が将来的な探索空間に直結するので、初期解から世代が進むにつれての多様度を測ることで収束するタイミングを説明できる可能性がある。</a:t>
            </a:r>
            <a:endParaRPr sz="900"/>
          </a:p>
          <a:p>
            <a:pPr indent="0" lvl="0" marL="0" rtl="0" algn="l">
              <a:spcBef>
                <a:spcPts val="0"/>
              </a:spcBef>
              <a:spcAft>
                <a:spcPts val="0"/>
              </a:spcAft>
              <a:buNone/>
            </a:pPr>
            <a:r>
              <a:rPr lang="ja" sz="900"/>
              <a:t>また、長時間の探索で差が縮小する場合でも、短時間で一定品質の解を必要とする用途では、CIMによる初期化に価値がある可能性がある。</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ja" sz="900"/>
              <a:t>【今後の課題】</a:t>
            </a:r>
            <a:endParaRPr sz="900"/>
          </a:p>
          <a:p>
            <a:pPr indent="0" lvl="0" marL="0" rtl="0" algn="l">
              <a:spcBef>
                <a:spcPts val="0"/>
              </a:spcBef>
              <a:spcAft>
                <a:spcPts val="0"/>
              </a:spcAft>
              <a:buNone/>
            </a:pPr>
            <a:r>
              <a:rPr lang="ja" sz="900"/>
              <a:t>・GAにおいて</a:t>
            </a:r>
            <a:r>
              <a:rPr lang="ja" sz="900"/>
              <a:t>初期解から世代が進むにつれての多様度を測る。</a:t>
            </a:r>
            <a:endParaRPr sz="900"/>
          </a:p>
          <a:p>
            <a:pPr indent="0" lvl="0" marL="0" rtl="0" algn="l">
              <a:spcBef>
                <a:spcPts val="0"/>
              </a:spcBef>
              <a:spcAft>
                <a:spcPts val="0"/>
              </a:spcAft>
              <a:buNone/>
            </a:pPr>
            <a:r>
              <a:rPr lang="ja" sz="900"/>
              <a:t>・GAにおいて第一世代への注入割合を変化させることで、多様性ー解の品質のパレートを評価する。</a:t>
            </a:r>
            <a:endParaRPr sz="900"/>
          </a:p>
          <a:p>
            <a:pPr indent="0" lvl="0" marL="0" rtl="0" algn="l">
              <a:spcBef>
                <a:spcPts val="0"/>
              </a:spcBef>
              <a:spcAft>
                <a:spcPts val="0"/>
              </a:spcAft>
              <a:buNone/>
            </a:pPr>
            <a:r>
              <a:rPr lang="ja" sz="900"/>
              <a:t>・SAにおいて収束した解が同一解もしくは似通っている解なのか、はたまた別の解に収束するのか調査する。</a:t>
            </a:r>
            <a:endParaRPr sz="900"/>
          </a:p>
        </p:txBody>
      </p:sp>
      <p:sp>
        <p:nvSpPr>
          <p:cNvPr id="90" name="Google Shape;9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91" name="Google Shape;91;p18"/>
          <p:cNvPicPr preferRelativeResize="0"/>
          <p:nvPr/>
        </p:nvPicPr>
        <p:blipFill rotWithShape="1">
          <a:blip r:embed="rId3">
            <a:alphaModFix/>
          </a:blip>
          <a:srcRect b="48643" l="3233" r="49430" t="9668"/>
          <a:stretch/>
        </p:blipFill>
        <p:spPr>
          <a:xfrm>
            <a:off x="4473250" y="2292112"/>
            <a:ext cx="2224051" cy="1328526"/>
          </a:xfrm>
          <a:prstGeom prst="rect">
            <a:avLst/>
          </a:prstGeom>
          <a:noFill/>
          <a:ln>
            <a:noFill/>
          </a:ln>
        </p:spPr>
      </p:pic>
      <p:pic>
        <p:nvPicPr>
          <p:cNvPr id="92" name="Google Shape;92;p18"/>
          <p:cNvPicPr preferRelativeResize="0"/>
          <p:nvPr/>
        </p:nvPicPr>
        <p:blipFill rotWithShape="1">
          <a:blip r:embed="rId4">
            <a:alphaModFix/>
          </a:blip>
          <a:srcRect b="47940" l="4300" r="49952" t="12855"/>
          <a:stretch/>
        </p:blipFill>
        <p:spPr>
          <a:xfrm>
            <a:off x="6842000" y="2375630"/>
            <a:ext cx="2224051" cy="1289902"/>
          </a:xfrm>
          <a:prstGeom prst="rect">
            <a:avLst/>
          </a:prstGeom>
          <a:noFill/>
          <a:ln>
            <a:noFill/>
          </a:ln>
        </p:spPr>
      </p:pic>
      <p:sp>
        <p:nvSpPr>
          <p:cNvPr id="93" name="Google Shape;93;p18"/>
          <p:cNvSpPr txBox="1"/>
          <p:nvPr/>
        </p:nvSpPr>
        <p:spPr>
          <a:xfrm>
            <a:off x="4677600" y="1985650"/>
            <a:ext cx="1974900" cy="27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800">
                <a:solidFill>
                  <a:schemeClr val="dk2"/>
                </a:solidFill>
              </a:rPr>
              <a:t>SA</a:t>
            </a:r>
            <a:endParaRPr sz="1800">
              <a:solidFill>
                <a:schemeClr val="dk2"/>
              </a:solidFill>
            </a:endParaRPr>
          </a:p>
        </p:txBody>
      </p:sp>
      <p:sp>
        <p:nvSpPr>
          <p:cNvPr id="94" name="Google Shape;94;p18"/>
          <p:cNvSpPr txBox="1"/>
          <p:nvPr/>
        </p:nvSpPr>
        <p:spPr>
          <a:xfrm>
            <a:off x="7046250" y="2013700"/>
            <a:ext cx="1974900" cy="27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800">
                <a:solidFill>
                  <a:schemeClr val="dk2"/>
                </a:solidFill>
              </a:rPr>
              <a:t>GA</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256650" y="97975"/>
            <a:ext cx="7782000" cy="39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ja" sz="1400"/>
              <a:t>CIMを初期解にしてSA（PT-ICM）を実行した際のsweeps数による性能の変化　</a:t>
            </a:r>
            <a:endParaRPr b="1" sz="1400"/>
          </a:p>
          <a:p>
            <a:pPr indent="0" lvl="0" marL="0" rtl="0" algn="l">
              <a:spcBef>
                <a:spcPts val="1200"/>
              </a:spcBef>
              <a:spcAft>
                <a:spcPts val="0"/>
              </a:spcAft>
              <a:buNone/>
            </a:pPr>
            <a:r>
              <a:t/>
            </a:r>
            <a:endParaRPr b="1" sz="1400"/>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01" name="Google Shape;101;p19"/>
          <p:cNvSpPr txBox="1"/>
          <p:nvPr/>
        </p:nvSpPr>
        <p:spPr>
          <a:xfrm>
            <a:off x="5637250" y="1029100"/>
            <a:ext cx="3300000" cy="2993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ja" sz="1800">
                <a:solidFill>
                  <a:schemeClr val="dk1"/>
                </a:solidFill>
              </a:rPr>
              <a:t>比較的簡単な（≒解空間が狭い）Gセットではおおよそ1800rounds程度で初期解の良し悪しが反映されなくなる。</a:t>
            </a:r>
            <a:endParaRPr sz="1800">
              <a:solidFill>
                <a:schemeClr val="dk1"/>
              </a:solidFill>
            </a:endParaRPr>
          </a:p>
          <a:p>
            <a:pPr indent="-342900" lvl="0" marL="457200" rtl="0" algn="l">
              <a:spcBef>
                <a:spcPts val="0"/>
              </a:spcBef>
              <a:spcAft>
                <a:spcPts val="0"/>
              </a:spcAft>
              <a:buClr>
                <a:schemeClr val="dk1"/>
              </a:buClr>
              <a:buSzPts val="1800"/>
              <a:buChar char="●"/>
            </a:pPr>
            <a:r>
              <a:rPr lang="ja" sz="1800">
                <a:solidFill>
                  <a:schemeClr val="dk1"/>
                </a:solidFill>
              </a:rPr>
              <a:t>K2000では問題のむずかしさもあり、SAの解に対してCIMから始めた方は1800rounds（13分）でも優位性を保っている。</a:t>
            </a:r>
            <a:endParaRPr sz="1800">
              <a:solidFill>
                <a:schemeClr val="dk1"/>
              </a:solidFill>
            </a:endParaRPr>
          </a:p>
        </p:txBody>
      </p:sp>
      <p:pic>
        <p:nvPicPr>
          <p:cNvPr id="102" name="Google Shape;102;p19"/>
          <p:cNvPicPr preferRelativeResize="0"/>
          <p:nvPr/>
        </p:nvPicPr>
        <p:blipFill>
          <a:blip r:embed="rId3">
            <a:alphaModFix/>
          </a:blip>
          <a:stretch>
            <a:fillRect/>
          </a:stretch>
        </p:blipFill>
        <p:spPr>
          <a:xfrm>
            <a:off x="302075" y="804525"/>
            <a:ext cx="5335163" cy="3618425"/>
          </a:xfrm>
          <a:prstGeom prst="rect">
            <a:avLst/>
          </a:prstGeom>
          <a:noFill/>
          <a:ln>
            <a:noFill/>
          </a:ln>
        </p:spPr>
      </p:pic>
      <p:sp>
        <p:nvSpPr>
          <p:cNvPr id="103" name="Google Shape;103;p19"/>
          <p:cNvSpPr txBox="1"/>
          <p:nvPr/>
        </p:nvSpPr>
        <p:spPr>
          <a:xfrm>
            <a:off x="1340275" y="567400"/>
            <a:ext cx="35583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highlight>
                  <a:schemeClr val="lt1"/>
                </a:highlight>
              </a:rPr>
              <a:t>16並列で実行した解の平均をplot</a:t>
            </a:r>
            <a:endParaRPr sz="1800">
              <a:solidFill>
                <a:schemeClr val="dk1"/>
              </a:solidFill>
              <a:highlight>
                <a:schemeClr val="lt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09" name="Google Shape;109;p20"/>
          <p:cNvPicPr preferRelativeResize="0"/>
          <p:nvPr/>
        </p:nvPicPr>
        <p:blipFill>
          <a:blip r:embed="rId3">
            <a:alphaModFix/>
          </a:blip>
          <a:stretch>
            <a:fillRect/>
          </a:stretch>
        </p:blipFill>
        <p:spPr>
          <a:xfrm>
            <a:off x="164150" y="679413"/>
            <a:ext cx="5592351" cy="3784674"/>
          </a:xfrm>
          <a:prstGeom prst="rect">
            <a:avLst/>
          </a:prstGeom>
          <a:noFill/>
          <a:ln>
            <a:noFill/>
          </a:ln>
        </p:spPr>
      </p:pic>
      <p:sp>
        <p:nvSpPr>
          <p:cNvPr id="110" name="Google Shape;110;p20"/>
          <p:cNvSpPr txBox="1"/>
          <p:nvPr/>
        </p:nvSpPr>
        <p:spPr>
          <a:xfrm>
            <a:off x="902125" y="592100"/>
            <a:ext cx="43815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highlight>
                <a:schemeClr val="lt1"/>
              </a:highlight>
            </a:endParaRPr>
          </a:p>
        </p:txBody>
      </p:sp>
      <p:sp>
        <p:nvSpPr>
          <p:cNvPr id="111" name="Google Shape;111;p20"/>
          <p:cNvSpPr txBox="1"/>
          <p:nvPr>
            <p:ph type="title"/>
          </p:nvPr>
        </p:nvSpPr>
        <p:spPr>
          <a:xfrm>
            <a:off x="256650" y="97975"/>
            <a:ext cx="7782000" cy="39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ja" sz="1400"/>
              <a:t>CIMを初期解にしてGAを実行した際の世代数による性能の変化　</a:t>
            </a:r>
            <a:endParaRPr b="1" sz="1400"/>
          </a:p>
          <a:p>
            <a:pPr indent="0" lvl="0" marL="0" rtl="0" algn="l">
              <a:spcBef>
                <a:spcPts val="1200"/>
              </a:spcBef>
              <a:spcAft>
                <a:spcPts val="0"/>
              </a:spcAft>
              <a:buNone/>
            </a:pPr>
            <a:r>
              <a:t/>
            </a:r>
            <a:endParaRPr b="1" sz="1400"/>
          </a:p>
        </p:txBody>
      </p:sp>
      <p:sp>
        <p:nvSpPr>
          <p:cNvPr id="112" name="Google Shape;112;p20"/>
          <p:cNvSpPr txBox="1"/>
          <p:nvPr/>
        </p:nvSpPr>
        <p:spPr>
          <a:xfrm>
            <a:off x="5920900" y="831700"/>
            <a:ext cx="3223200" cy="41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solidFill>
                  <a:schemeClr val="dk1"/>
                </a:solidFill>
              </a:rPr>
              <a:t>GAでも同様の結果が得られた。</a:t>
            </a:r>
            <a:br>
              <a:rPr lang="ja">
                <a:solidFill>
                  <a:schemeClr val="dk1"/>
                </a:solidFill>
              </a:rPr>
            </a:br>
            <a:br>
              <a:rPr lang="ja">
                <a:solidFill>
                  <a:schemeClr val="dk1"/>
                </a:solidFill>
              </a:rPr>
            </a:br>
            <a:r>
              <a:rPr lang="ja">
                <a:solidFill>
                  <a:schemeClr val="dk1"/>
                </a:solidFill>
              </a:rPr>
              <a:t>以下私の疑問点</a:t>
            </a:r>
            <a:endParaRPr>
              <a:solidFill>
                <a:schemeClr val="dk1"/>
              </a:solidFill>
            </a:endParaRPr>
          </a:p>
          <a:p>
            <a:pPr indent="-317500" lvl="0" marL="457200" rtl="0" algn="l">
              <a:spcBef>
                <a:spcPts val="0"/>
              </a:spcBef>
              <a:spcAft>
                <a:spcPts val="0"/>
              </a:spcAft>
              <a:buClr>
                <a:schemeClr val="dk1"/>
              </a:buClr>
              <a:buSzPts val="1400"/>
              <a:buChar char="●"/>
            </a:pPr>
            <a:r>
              <a:rPr lang="ja">
                <a:solidFill>
                  <a:schemeClr val="dk1"/>
                </a:solidFill>
              </a:rPr>
              <a:t>G70の時のrandomスタート、CIMスタートで有意差がなくなる時は出てくるのか？</a:t>
            </a:r>
            <a:br>
              <a:rPr lang="ja">
                <a:solidFill>
                  <a:schemeClr val="dk1"/>
                </a:solidFill>
              </a:rPr>
            </a:br>
            <a:r>
              <a:rPr lang="ja">
                <a:solidFill>
                  <a:schemeClr val="dk1"/>
                </a:solidFill>
              </a:rPr>
              <a:t>仮説）頂点数が多いものはCIMで全頂点一斉に最適化するのが聞いているかも</a:t>
            </a:r>
            <a:endParaRPr>
              <a:solidFill>
                <a:schemeClr val="dk1"/>
              </a:solidFill>
            </a:endParaRPr>
          </a:p>
          <a:p>
            <a:pPr indent="-317500" lvl="0" marL="457200" rtl="0" algn="l">
              <a:spcBef>
                <a:spcPts val="0"/>
              </a:spcBef>
              <a:spcAft>
                <a:spcPts val="0"/>
              </a:spcAft>
              <a:buClr>
                <a:schemeClr val="dk1"/>
              </a:buClr>
              <a:buSzPts val="1400"/>
              <a:buChar char="●"/>
            </a:pPr>
            <a:r>
              <a:rPr lang="ja">
                <a:solidFill>
                  <a:schemeClr val="dk1"/>
                </a:solidFill>
              </a:rPr>
              <a:t>K2000の時に世代数を進めると、CIMスタートに比べてrandomスタートの方が良い解を見つけるのはなぜか？</a:t>
            </a:r>
            <a:endParaRPr>
              <a:solidFill>
                <a:schemeClr val="dk1"/>
              </a:solidFill>
            </a:endParaRPr>
          </a:p>
          <a:p>
            <a:pPr indent="0" lvl="0" marL="457200" rtl="0" algn="l">
              <a:spcBef>
                <a:spcPts val="0"/>
              </a:spcBef>
              <a:spcAft>
                <a:spcPts val="0"/>
              </a:spcAft>
              <a:buNone/>
            </a:pPr>
            <a:r>
              <a:rPr lang="ja">
                <a:solidFill>
                  <a:schemeClr val="dk1"/>
                </a:solidFill>
              </a:rPr>
              <a:t>仮説）GAは世代内での多様性が重要だが、CIMの解は多様性が少なそう</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18" name="Google Shape;118;p21"/>
          <p:cNvPicPr preferRelativeResize="0"/>
          <p:nvPr/>
        </p:nvPicPr>
        <p:blipFill>
          <a:blip r:embed="rId3">
            <a:alphaModFix/>
          </a:blip>
          <a:stretch>
            <a:fillRect/>
          </a:stretch>
        </p:blipFill>
        <p:spPr>
          <a:xfrm>
            <a:off x="271463" y="1368650"/>
            <a:ext cx="8601075" cy="2790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24" name="Google Shape;124;p22"/>
          <p:cNvPicPr preferRelativeResize="0"/>
          <p:nvPr/>
        </p:nvPicPr>
        <p:blipFill>
          <a:blip r:embed="rId3">
            <a:alphaModFix/>
          </a:blip>
          <a:stretch>
            <a:fillRect/>
          </a:stretch>
        </p:blipFill>
        <p:spPr>
          <a:xfrm>
            <a:off x="282338" y="2016575"/>
            <a:ext cx="8429625" cy="1600200"/>
          </a:xfrm>
          <a:prstGeom prst="rect">
            <a:avLst/>
          </a:prstGeom>
          <a:noFill/>
          <a:ln>
            <a:noFill/>
          </a:ln>
        </p:spPr>
      </p:pic>
      <p:sp>
        <p:nvSpPr>
          <p:cNvPr id="125" name="Google Shape;125;p22"/>
          <p:cNvSpPr txBox="1"/>
          <p:nvPr/>
        </p:nvSpPr>
        <p:spPr>
          <a:xfrm>
            <a:off x="394600" y="455850"/>
            <a:ext cx="6565500" cy="100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SAの計測時間</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